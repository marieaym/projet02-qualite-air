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60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0"/>
            <a:ext cx="64008" cy="5143500"/>
          </a:xfrm>
          <a:prstGeom prst="rect">
            <a:avLst/>
          </a:prstGeom>
          <a:solidFill>
            <a:srgbClr val="32E0C4">
              <a:alpha val="55000"/>
            </a:srgbClr>
          </a:solidFill>
          <a:ln w="12700">
            <a:solidFill>
              <a:srgbClr val="32E0C4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560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AA"/>
                </a:solidFill>
              </a:rPr>
              <a:t>PROJET </a:t>
            </a:r>
            <a:r>
              <a:rPr lang="en-US" sz="1100" dirty="0" smtClean="0">
                <a:solidFill>
                  <a:srgbClr val="7A9BAA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Analyse Climatique &amp;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2E0C4"/>
                </a:solidFill>
              </a:rPr>
              <a:t>Qualité de l'Air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BAA"/>
                </a:solidFill>
              </a:rPr>
              <a:t>Séries temporelles · Tendances environnementales · Prédiction de la pollution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2560320" cy="36576"/>
          </a:xfrm>
          <a:prstGeom prst="rect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035808"/>
            <a:ext cx="2743200" cy="749808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2724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6424" y="303580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Dataset UCI Air Quality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Milan · 9 357 mesures horaires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3035808"/>
            <a:ext cx="2743200" cy="749808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12724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86784" y="303580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Domaine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Environnement &amp; Écologie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55080" y="3035808"/>
            <a:ext cx="2743200" cy="749808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31272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303580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Difficulté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★★★★☆ · 3–4 semaines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436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AA"/>
                </a:solidFill>
              </a:rPr>
              <a:t>Polluants analysés : CO  ·  NOx  ·  NO₂  ·  C₆H₆  ·  T  ·  RH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Plan de la présentation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57200" y="804672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804672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804672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859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Contexte &amp; Données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2252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Enjeux OMS, description du dataset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28800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28800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2880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5840" y="1883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Nettoyage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22494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Valeurs -200, datetime, interpolation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852928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852928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8529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5840" y="2907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 &amp; Corrélations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Sources communes de pollution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877056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877056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87705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" y="3931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Tendances &amp; Saisonnalité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05840" y="4297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Évolution mensuelle, profil horaire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46320" y="804672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46320" y="804672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804672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394960" y="859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Effets Trafic &amp; OMS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94960" y="12252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Semaine/WE/Fériés, test t, seuils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46320" y="1828800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46320" y="1828800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182880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94960" y="1883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Système d'Alerte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94960" y="22494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Règle préventive T &amp; NOx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2852928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46320" y="2852928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46320" y="28529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07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394960" y="2907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Modèle ML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94960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ERA5 + 4 modèles, R², importance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846320" y="3877056"/>
            <a:ext cx="4114800" cy="804672"/>
          </a:xfrm>
          <a:prstGeom prst="rect">
            <a:avLst/>
          </a:prstGeom>
          <a:solidFill>
            <a:srgbClr val="0D2D4A"/>
          </a:solidFill>
          <a:ln w="8890">
            <a:solidFill>
              <a:srgbClr val="0D737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46320" y="3877056"/>
            <a:ext cx="47548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387705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</a:rPr>
              <a:t>08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394960" y="3931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Réponses aux 5 questions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394960" y="4297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Questions de recherche du projet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Contexte &amp; Description du dataset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416052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Pourquoi ce projet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261872"/>
            <a:ext cx="3840480" cy="804672"/>
          </a:xfrm>
          <a:prstGeom prst="rect">
            <a:avLst/>
          </a:prstGeom>
          <a:solidFill>
            <a:srgbClr val="0D2D4A"/>
          </a:solidFill>
          <a:ln w="10160">
            <a:solidFill>
              <a:srgbClr val="D94F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26187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F4F"/>
                </a:solidFill>
              </a:rPr>
              <a:t>7 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920240" y="126187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décès prématurés/an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(OMS 2024)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267712"/>
            <a:ext cx="3840480" cy="80467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26771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7377"/>
                </a:solidFill>
              </a:rPr>
              <a:t>13 mois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20240" y="226771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 mesures horaires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Mars 2004 → Fév 2005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273552"/>
            <a:ext cx="3840480" cy="804672"/>
          </a:xfrm>
          <a:prstGeom prst="rect">
            <a:avLst/>
          </a:prstGeom>
          <a:solidFill>
            <a:srgbClr val="0D2D4A"/>
          </a:solidFill>
          <a:ln w="10160">
            <a:solidFill>
              <a:srgbClr val="14B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27355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BFBF"/>
                </a:solidFill>
              </a:rPr>
              <a:t>9 357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920240" y="327355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lignes après nettoyage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(9 471 brutes)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4315968"/>
            <a:ext cx="3840480" cy="420624"/>
          </a:xfrm>
          <a:prstGeom prst="rect">
            <a:avLst/>
          </a:prstGeom>
          <a:solidFill>
            <a:srgbClr val="FFF8F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315968"/>
            <a:ext cx="54864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" y="43159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Défi principal : valeurs manquantes codées -200 (jusqu'à 90% pour NMHC)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54880" y="859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Variables du dataset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61872"/>
          <a:ext cx="4114800" cy="347472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  <a:gridCol w="82296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CO(GT)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Monoxyde de carbone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mg/m³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C6H6(GT)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Benzène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µg/m³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NOx(GT)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Oxydes d'azote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ppb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NO2(GT)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Dioxyde d'azote — cible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µg/m³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Température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°C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RH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Humidité relative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</a:rPr>
                        <a:t>NMHC(GT)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</a:rPr>
                        <a:t>Supprimée — 90% manquant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4F4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Nettoyage — Choix méthodologiques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748"/>
                </a:solidFill>
              </a:rPr>
              <a:t>Chaque décision de nettoyage a une justification statistique 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88720"/>
            <a:ext cx="38404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887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125272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Colonnes vides supprimées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59105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Unnamed: 15 &amp; 16 sont des artefacts du format CSV — aucune donnée utile.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00600" y="118872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188720"/>
            <a:ext cx="38404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1887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57800" y="125272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Date + Time → Datetime (format explicite)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57800" y="159105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Sans format '%d-%m-%Y %H:%M:%S', Pandas peut confondre jour et mois. errors='coerce' évite de faire planter le code sur des lignes corrompues.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42316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423160"/>
            <a:ext cx="38404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42316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" y="248716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set_index + sort_index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282549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Obligatoire pour utiliser resample() (agrégation mensuelle) et groupby temporel. Sans ça, ces fonctions ne fonctionnent pas.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242316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00600" y="2423160"/>
            <a:ext cx="384048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242316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257800" y="248716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-200 → NaN (pas une suppression directe)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282549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Le capteur code ses pannes avec -200. On convertit d'abord puis on traite — sinon les calculs de moyenne seraient faussés.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65760" y="365760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5760" y="3657600"/>
            <a:ext cx="384048" cy="1078992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65760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22960" y="37216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NMHC supprimée (90% manquant)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2960" y="405993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Une colonne à 90% vide ne peut pas être imputée de façon fiable. Toute interpolation serait de l'invention de données.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00600" y="3657600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00600" y="3657600"/>
            <a:ext cx="384048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365760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5257800" y="37216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Interpolation linéaire (pas médiane)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257800" y="4059936"/>
            <a:ext cx="3621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Les capteurs ont des pannes courtes → le signal reprend là où il s'est arrêté. La médiane ignorerait la tendance locale. L'interpolation est plus fidèle à la réalité.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Résultat : 9 471 → 9 357 lignes · 17 → 12 colonnes · 0 valeur manquante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EDA — Ce que les données nous disent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416052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Distributions : 3 observations clés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261872"/>
            <a:ext cx="3840480" cy="91440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261872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3167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Asymétrie à droite sur tous les polluants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162763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La majorité des heures : pollution basse. Mais des épisodes extrêmes créent une longue queue vers la droite → la médiane est plus représentative que la moyenne.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377440"/>
            <a:ext cx="3840480" cy="91440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377440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243230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C₆H₆ : distribution bimodale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" y="274320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Deux bosses distinctes = deux régimes de pollution. Probable effet jour/nuit ou saison froide/chaude. Signal que les données contiennent une structure cachée.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493008"/>
            <a:ext cx="3840480" cy="91440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493008"/>
            <a:ext cx="54864" cy="9144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5478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NOx : moyenne ≫ médiane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385876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Moyenne = 242 ppb vs médiane = 180 ppb. Des pics très élevés tirent la moyenne vers le haut. Un modèle sur la moyenne serait trompeur.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786384"/>
            <a:ext cx="41148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Corrélations → sources communes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92040" y="1261872"/>
            <a:ext cx="3840480" cy="749808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92040" y="1261872"/>
            <a:ext cx="54864" cy="749808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0912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CO ↔ C6H6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0" y="1280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4F4F"/>
                </a:solidFill>
              </a:rPr>
              <a:t>r = 0.82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1091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Combustion moteurs : les deux polluants montent ensemble quand le trafic monte.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92040" y="2157984"/>
            <a:ext cx="3840480" cy="749808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92040" y="2157984"/>
            <a:ext cx="54864" cy="749808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1091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CO ↔ NOx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58000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4F4F"/>
                </a:solidFill>
              </a:rPr>
              <a:t>r = 0.79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010912" y="2505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Même source trafic. Ces 3 polluants forment un groupe indissociable.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92040" y="3054096"/>
            <a:ext cx="3840480" cy="749808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92040" y="3054096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10912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NOx ↔ NO₂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0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A261"/>
                </a:solidFill>
              </a:rPr>
              <a:t>r = 0.76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010912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Le NO₂ se forme par oxydation atmosphérique du NOx. Relation chimique connue.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92040" y="3950208"/>
            <a:ext cx="3840480" cy="749808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92040" y="3950208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10912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T ↔ NOx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0" y="3968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CC71"/>
                </a:solidFill>
              </a:rPr>
              <a:t>r = −0.25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5010912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Chaleur → couche limite plus haute → polluants mieux dispersés.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892040" y="4828032"/>
            <a:ext cx="384048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Réponse Q1 : trafic routier = source dominante unique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Tendances temporelles &amp; Saisonnalité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57200" y="804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NO₂ moyen par saison (µg/m³)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6576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243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Hiver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2070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4F4F"/>
                </a:solidFill>
              </a:rPr>
              <a:t>134 µg/m³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072" y="157276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Anticyclones → couche limite basse → accumulation. Chauffage et trafic accrus.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075688"/>
            <a:ext cx="36576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075688"/>
            <a:ext cx="54864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30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Automne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74520" y="20939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A261"/>
                </a:solidFill>
              </a:rPr>
              <a:t>120 µg/m³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072" y="24597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Reprise du trafic post-vacances dans des conditions atmosphériques dégradées.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962656"/>
            <a:ext cx="36576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62656"/>
            <a:ext cx="54864" cy="731520"/>
          </a:xfrm>
          <a:prstGeom prst="rect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Printemps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74520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4BFBF"/>
                </a:solidFill>
              </a:rPr>
              <a:t>98 µg/m³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76072" y="334670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Amélioration progressive. Températures montantes, meilleure dispersion.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849624"/>
            <a:ext cx="36576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849624"/>
            <a:ext cx="54864" cy="731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Été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74520" y="3867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CC71"/>
                </a:solidFill>
              </a:rPr>
              <a:t>92 µg/m³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76072" y="42336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Chaleur → couche limite haute. Moins de trafic (vacances). Minimum annuel.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34840" y="786384"/>
            <a:ext cx="443484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72000" y="859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Profil horaire — double pic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0" y="1243584"/>
            <a:ext cx="4114800" cy="67665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1243584"/>
            <a:ext cx="54864" cy="676656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90872" y="1289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8h–9h : Pic du matin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90872" y="1572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Déplacements domicile → travail. Premier afflux de trafic. NO₂ monte rapidement.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0" y="2066544"/>
            <a:ext cx="4114800" cy="67665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0" y="2066544"/>
            <a:ext cx="54864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90872" y="2112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2h–5h : Creux nocturne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690872" y="23957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Trafic quasi nul. Pollution minimale. Base de référence naturelle.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0" y="2889504"/>
            <a:ext cx="4114800" cy="67665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2889504"/>
            <a:ext cx="54864" cy="676656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90872" y="2935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18h–19h : Pic du soir (plus élevé)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690872" y="3218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Retour du travail + accumulation de la journée. Le pic soir &gt; pic matin.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72000" y="3712464"/>
            <a:ext cx="4114800" cy="67665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72000" y="3712464"/>
            <a:ext cx="54864" cy="6766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90872" y="3758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Forme en double-bosse (M)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690872" y="40416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Signature universelle du trafic pendulaire urbain. Confirme les corrélations indépendamment.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846320"/>
            <a:ext cx="8321040" cy="292608"/>
          </a:xfrm>
          <a:prstGeom prst="rect">
            <a:avLst/>
          </a:prstGeom>
          <a:solidFill>
            <a:srgbClr val="FFF8F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846320"/>
            <a:ext cx="54864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5216" y="48463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Réponse Q2 : pas d'amélioration sur 13 mois. NO₂ hivernal 2005 (158) &gt; mars 2004 (120). Historique pluriannuel nécessaire pour conclure.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Effets du trafic &amp; Seuils OMS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416052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Effet du trafic : preuve statistique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261872"/>
            <a:ext cx="3840480" cy="76809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261872"/>
            <a:ext cx="54864" cy="768096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F4F"/>
                </a:solidFill>
              </a:rPr>
              <a:t>Semaine : 114.6 µg/m³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Pleine activité économique. Trafic pendulaire maximum.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176272"/>
            <a:ext cx="3840480" cy="76809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176272"/>
            <a:ext cx="54864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Week-end : 98.9 µg/m³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Moins de trafic professionnel. Réduction de 14% vs semaine.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3090672"/>
            <a:ext cx="3840480" cy="768096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090672"/>
            <a:ext cx="54864" cy="7680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Jours fériés : 89.2 µg/m³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Arrêt quasi-total du trafic. Niveau le plus bas. 12 jours fériés italiens identifiés.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4114800"/>
            <a:ext cx="3840480" cy="62179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t de Student (Semaine vs Week-end)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 = 14.57   </a:t>
            </a:r>
            <a:r>
              <a:rPr lang="en-US" sz="1300" b="1" dirty="0">
                <a:solidFill>
                  <a:srgbClr val="2ECC71"/>
                </a:solidFill>
              </a:rPr>
              <a:t>p &lt; 0.0001  </a:t>
            </a:r>
            <a:r>
              <a:rPr lang="en-US" sz="1000" dirty="0">
                <a:solidFill>
                  <a:srgbClr val="7A9BAA"/>
                </a:solidFill>
              </a:rPr>
              <a:t>→ différence réelle, pas due au hasard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786384"/>
            <a:ext cx="41148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9204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Seuils OMS — résultats clés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92040" y="1261872"/>
            <a:ext cx="1783080" cy="117043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1298448"/>
            <a:ext cx="1783080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4F"/>
                </a:solidFill>
              </a:rPr>
              <a:t>387 h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4983480" y="1964131"/>
            <a:ext cx="1600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Heures &gt; 200 µg/m³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(seuil OMS NO₂)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12280" y="1261872"/>
            <a:ext cx="1783080" cy="117043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1298448"/>
            <a:ext cx="1783080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4F4F"/>
                </a:solidFill>
              </a:rPr>
              <a:t>87 jours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903720" y="1964131"/>
            <a:ext cx="1600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Jours avec au moins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1 h de dépassement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92040" y="2633472"/>
            <a:ext cx="1783080" cy="117043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2670048"/>
            <a:ext cx="1783080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340 µg/m³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4983480" y="3335731"/>
            <a:ext cx="1600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Pic absolu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Février 2005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12280" y="2633472"/>
            <a:ext cx="1783080" cy="117043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12280" y="2670048"/>
            <a:ext cx="1783080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</a:rPr>
              <a:t>0 jour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6903720" y="3335731"/>
            <a:ext cx="1600200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De dépassement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en été (juin–août)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92040" y="4078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</a:rPr>
              <a:t>Tous les dépassements sont concentrés entre novembre et mars.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92040" y="4462272"/>
            <a:ext cx="3840480" cy="329184"/>
          </a:xfrm>
          <a:prstGeom prst="rect">
            <a:avLst/>
          </a:prstGeom>
          <a:solidFill>
            <a:srgbClr val="EBF7F8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92040" y="4462272"/>
            <a:ext cx="54864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0056" y="4462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Réponse Q5 : 87 jours/an &gt; seuil OMS. PM2.5 non mesuré ici (adaptation avec NO₂).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Système d'alerte préventive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8412480" cy="8778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AA"/>
                </a:solidFill>
              </a:rPr>
              <a:t>Règle construite automatiquement depuis les données 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0515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E0C4"/>
                </a:solidFill>
              </a:rPr>
              <a:t>Si  T &lt; 14.8°C  ET  NOx &gt; 422 ppb  →  Pic de NO₂ probable dans les 3 heures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5760" y="1810512"/>
            <a:ext cx="416052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Comment la règle est construite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shift(-3) sur NO₂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5603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Pour chaque ligne t, on regarde la valeur de t+3h. Ainsi on sait à l'heure actuelle si un pic va arriver 3 heures plus tard.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groupby sur 'Pic_futur'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3284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On compare les conditions météo actuelles entre 'pic dans 3h = oui' et 'non'. Les moyennes T et NOx divergent clairement entre les deux groupes.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Seuils extraits automatiquement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0965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T_seuil = 14.8°C et NOx_seuil = 422 ppb viennent des moyennes observées. La règle est lue dans les données, pas inventée.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1810512"/>
            <a:ext cx="411480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Performance &amp; interprétation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92040" y="2286000"/>
            <a:ext cx="3840480" cy="896112"/>
          </a:xfrm>
          <a:prstGeom prst="rect">
            <a:avLst/>
          </a:prstGeom>
          <a:solidFill>
            <a:srgbClr val="0D2D4A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2340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Précision : ~68 %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49440" y="228600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4A261"/>
                </a:solidFill>
              </a:rPr>
              <a:t>~68 %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50292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68% des alertes déclenchées sont suivies d'un vrai pic. 32% sont de fausses alarmes.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892040" y="3255264"/>
            <a:ext cx="3840480" cy="896112"/>
          </a:xfrm>
          <a:prstGeom prst="rect">
            <a:avLst/>
          </a:prstGeom>
          <a:solidFill>
            <a:srgbClr val="0D2D4A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</a:rPr>
              <a:t>Rappel : ~74 %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49440" y="325526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CC71"/>
                </a:solidFill>
              </a:rPr>
              <a:t>~74 %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029200" y="3621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74% des vrais pics ont été correctement détectés à l'avance.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solidFill>
            <a:srgbClr val="EBF7F8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5760" y="4828032"/>
            <a:ext cx="54864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Pour la santé publique : le rappel est la métrique prioritaire — mieux vaut une fausse alerte qu'un pic non détecté.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Modèle prédictif — Comparaison à 6 heures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416052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Pourquoi ces choix techniques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261872"/>
            <a:ext cx="3840480" cy="73152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261872"/>
            <a:ext cx="54864" cy="7315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3167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Split temporel 80/20 (pas aléatoire)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16093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On ne peut pas mélanger les dates. Entraîner sur le futur pour tester sur le passé fausserait complètement les résultats — règle fondamentale des séries temporelles.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139696"/>
            <a:ext cx="3840480" cy="73152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139696"/>
            <a:ext cx="54864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219456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NO₂_lag1 et NO₂_lag6 comme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" y="248716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La valeur de l'heure précédente (lag-1) et celle de 6h avant (lag-6) donnent au modèle un contexte historique sans lui donner la réponse directement.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017520"/>
            <a:ext cx="3840480" cy="731520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017520"/>
            <a:ext cx="54864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07238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100 arbres, random_state=42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336499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100 arbres = bon équilibre précision/temps. random_state=42 garantit la reproductibilité : le même code donnera toujours les mêmes résultats.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3895344"/>
            <a:ext cx="3840480" cy="758952"/>
          </a:xfrm>
          <a:prstGeom prst="rect">
            <a:avLst/>
          </a:prstGeom>
          <a:solidFill>
            <a:srgbClr val="F0FAFA"/>
          </a:solidFill>
          <a:ln w="7620">
            <a:solidFill>
              <a:srgbClr val="D4E8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3895344"/>
            <a:ext cx="54864" cy="731520"/>
          </a:xfrm>
          <a:prstGeom prst="rect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" y="390448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Cible : NO₂ à 6h + 3 modèles comparés avec ERA5 + </a:t>
            </a:r>
            <a:r>
              <a:rPr lang="en-US" sz="1100" b="1" dirty="0" err="1" smtClean="0">
                <a:solidFill>
                  <a:srgbClr val="2D3748"/>
                </a:solidFill>
              </a:rPr>
              <a:t>XGBoost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" y="4219923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shift(-6) crée la cible : NO₂ de t+6h. ERA5 intégré directement — toutes les variables UCI + ERA5. 3 modèles comparés : Régression Linéaire (baseline), Random Forest, </a:t>
            </a:r>
            <a:r>
              <a:rPr lang="en-US" sz="950" dirty="0" err="1" smtClean="0">
                <a:solidFill>
                  <a:srgbClr val="7A9BAA"/>
                </a:solidFill>
              </a:rPr>
              <a:t>XGBoost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786384"/>
            <a:ext cx="41148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9204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Résultats &amp; interprétation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92040" y="1261872"/>
            <a:ext cx="1828800" cy="98755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298448"/>
            <a:ext cx="1828800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</a:rPr>
              <a:t>33.83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4983480" y="1854403"/>
            <a:ext cx="164592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MAE (µg/m³)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erreur moyenne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03720" y="1261872"/>
            <a:ext cx="1828800" cy="987552"/>
          </a:xfrm>
          <a:prstGeom prst="rect">
            <a:avLst/>
          </a:prstGeom>
          <a:solidFill>
            <a:srgbClr val="0D2D4A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03720" y="1298448"/>
            <a:ext cx="1828800" cy="572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</a:rPr>
              <a:t>0.332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995160" y="1854403"/>
            <a:ext cx="1645920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R²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BAA"/>
                </a:solidFill>
              </a:rPr>
              <a:t>variance expliquée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9204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Que signifient ces chiffres ?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92040" y="261923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3 modèles comparés avec ERA5 — Random Forest est le meilleur. Ordre : RF (R²=0.332) &gt; </a:t>
            </a:r>
            <a:r>
              <a:rPr lang="en-US" sz="1100" b="1" dirty="0" err="1" smtClean="0">
                <a:solidFill>
                  <a:srgbClr val="2D3748"/>
                </a:solidFill>
              </a:rPr>
              <a:t>XGBoost</a:t>
            </a:r>
            <a:r>
              <a:rPr lang="en-US" sz="1100" b="1" dirty="0" smtClean="0">
                <a:solidFill>
                  <a:srgbClr val="2D3748"/>
                </a:solidFill>
              </a:rPr>
              <a:t> (</a:t>
            </a:r>
            <a:r>
              <a:rPr lang="en-US" sz="1100" b="1" dirty="0">
                <a:solidFill>
                  <a:srgbClr val="2D3748"/>
                </a:solidFill>
              </a:rPr>
              <a:t>R²=0.222) &gt; LR (R²=−0.012</a:t>
            </a:r>
            <a:r>
              <a:rPr lang="en-US" sz="1100" b="1" dirty="0" smtClean="0">
                <a:solidFill>
                  <a:srgbClr val="2D3748"/>
                </a:solidFill>
              </a:rPr>
              <a:t>). </a:t>
            </a:r>
            <a:r>
              <a:rPr lang="en-US" sz="1050" dirty="0" smtClean="0">
                <a:solidFill>
                  <a:srgbClr val="2D3748"/>
                </a:solidFill>
              </a:rPr>
              <a:t>LR </a:t>
            </a:r>
            <a:r>
              <a:rPr lang="en-US" sz="1050" dirty="0">
                <a:solidFill>
                  <a:srgbClr val="2D3748"/>
                </a:solidFill>
              </a:rPr>
              <a:t>R²=−0.012 : échec total, pire que prédire la moyenne — non-linéarité prouvée. 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92040" y="322273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ERA5 intégré : vent, pression, hauteur de couche limite. Hauteur de couche limite = facteur le plus corrélé avec NO₂ (réponse Q3).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92040" y="35896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Heure = 28.9% (feature #1) : </a:t>
            </a:r>
            <a:r>
              <a:rPr lang="en-US" sz="1050" dirty="0">
                <a:solidFill>
                  <a:srgbClr val="2D3748"/>
                </a:solidFill>
              </a:rPr>
              <a:t>à 6h, l'heure prédit le trafic futur. NO2_lag1 (20.1%) et NOx (11%) suivent.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92040" y="4156545"/>
            <a:ext cx="3840480" cy="598336"/>
          </a:xfrm>
          <a:prstGeom prst="rect">
            <a:avLst/>
          </a:prstGeom>
          <a:solidFill>
            <a:srgbClr val="EBF7F8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92040" y="4156545"/>
            <a:ext cx="54864" cy="598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0056" y="4265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Réponse Q4 : oui, exploitable à 6h. Random Forest (R²=0.332) est le meilleur modèle. LR R²=−0.012 prouve la non-linéarité. </a:t>
            </a:r>
            <a:r>
              <a:rPr lang="en-US" sz="1050" dirty="0" err="1">
                <a:solidFill>
                  <a:srgbClr val="2D3748"/>
                </a:solidFill>
              </a:rPr>
              <a:t>XGBoost</a:t>
            </a:r>
            <a:r>
              <a:rPr lang="en-US" sz="1050" dirty="0">
                <a:solidFill>
                  <a:srgbClr val="2D3748"/>
                </a:solidFill>
              </a:rPr>
              <a:t> </a:t>
            </a:r>
            <a:r>
              <a:rPr lang="en-US" sz="1050" dirty="0" smtClean="0">
                <a:solidFill>
                  <a:srgbClr val="2D3748"/>
                </a:solidFill>
              </a:rPr>
              <a:t>(R²=0.222) </a:t>
            </a:r>
            <a:r>
              <a:rPr lang="en-US" sz="1050" dirty="0">
                <a:solidFill>
                  <a:srgbClr val="2D3748"/>
                </a:solidFill>
              </a:rPr>
              <a:t>confirme RF comme meilleur choix. Heure du jour = feature #1 (28.9%).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572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1280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Réponses aux 5 questions de recherche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65760" y="786384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786384"/>
            <a:ext cx="54864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941832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941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832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</a:rPr>
              <a:t>Quels polluants sont les plus corrélés ? Cela révèle-t-il des sources communes ?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50976" y="10881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CO / C₆H₆ (r=0.82) et CO / NOx (r=0.79) sont les paires les plus corrélées. Ces trois polluants constituent un groupe indissociable caractéristique de la combustion des moteurs à essence. Conclusion : le trafic routier est la source de pollution dominante à Milan.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645920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645920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" y="1801368"/>
            <a:ext cx="420624" cy="42062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01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</a:rPr>
              <a:t>Y a-t-il une tendance à long terme (amélioration/dégradation) 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60120" y="19463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Sur 13 mois, aucune amélioration n'est observable : le NO₂ hivernal 2005 (158 µg/m³) est supérieur à celui de mars 2004 (120 µg/m³). Un historique pluriannuel est nécessaire pour conclure sur une tendance. La saisonnalité domine sur la tendance.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2505456"/>
            <a:ext cx="54864" cy="749808"/>
          </a:xfrm>
          <a:prstGeom prst="rect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" y="2660904"/>
            <a:ext cx="420624" cy="420624"/>
          </a:xfrm>
          <a:prstGeom prst="ellipse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0120" y="2551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</a:rPr>
              <a:t>Quel facteur météorologique est le plus déterminant pour les pics de PM2.5 ?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0120" y="2825397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Avec les données ERA5 (Open-Meteo), la hauteur de couche limite (boundary layer height) est le facteur le plus corrélé avec NO₂ — basse hauteur → accumulation des polluants. La température (r=−0.19) reste le meilleur discriminant dans les données UCI seules. Les deux analyses convergent : les conditions anticycloniques froides concentrent la pollution.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364992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364992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" y="3520440"/>
            <a:ext cx="420624" cy="42062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60120" y="3410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</a:rPr>
              <a:t>Peut-on prédire un épisode de pollution 6 heures à l'avance avec une précision exploitable ?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60120" y="36667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3 modèles comparés avec ERA5 sur la même cible (NO₂ à t+6h) : LR R²=−0.012 (échec total — pire que la moyenne), Random Forest R²=0.332 (meilleur), </a:t>
            </a:r>
            <a:r>
              <a:rPr lang="en-US" sz="950" dirty="0" err="1">
                <a:solidFill>
                  <a:srgbClr val="7A9BAA"/>
                </a:solidFill>
              </a:rPr>
              <a:t>XGBoost</a:t>
            </a:r>
            <a:r>
              <a:rPr lang="en-US" sz="950" dirty="0">
                <a:solidFill>
                  <a:srgbClr val="7A9BAA"/>
                </a:solidFill>
              </a:rPr>
              <a:t> </a:t>
            </a:r>
            <a:r>
              <a:rPr lang="en-US" sz="950" dirty="0" smtClean="0">
                <a:solidFill>
                  <a:srgbClr val="7A9BAA"/>
                </a:solidFill>
              </a:rPr>
              <a:t>R²=0.222. </a:t>
            </a:r>
            <a:r>
              <a:rPr lang="en-US" sz="950" dirty="0">
                <a:solidFill>
                  <a:srgbClr val="7A9BAA"/>
                </a:solidFill>
              </a:rPr>
              <a:t>Random Forest est le modèle retenu. LR prouve la non-linéarité. L'heure du jour est la feature la plus importante (28.9%).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65760" y="4224528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E8E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4224528"/>
            <a:ext cx="54864" cy="749808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5488" y="4379976"/>
            <a:ext cx="420624" cy="420624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60120" y="4270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</a:rPr>
              <a:t>Combien de jours par an dépassent le seuil OMS de 15 µg/m³ de PM2.5 ?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60120" y="4480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Le dataset ne mesure pas le PM2.5 directement. Adaptation avec le seuil OMS NO₂ (200 µg/m³) : 87 jours/an dépassent ce seuil, soit 387 heures (4.1% du temps). Tous les dépassements sont concentrés entre novembre et mars. Pic absolu : 340 µg/m³ en février 2005.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0"/>
            <a:ext cx="64008" cy="5143500"/>
          </a:xfrm>
          <a:prstGeom prst="rect">
            <a:avLst/>
          </a:prstGeom>
          <a:solidFill>
            <a:srgbClr val="32E0C4">
              <a:alpha val="55000"/>
            </a:srgbClr>
          </a:solidFill>
          <a:ln w="12700">
            <a:solidFill>
              <a:srgbClr val="32E0C4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630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Limites &amp; 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FBF"/>
                </a:solidFill>
              </a:rPr>
              <a:t>Principales limites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52144"/>
            <a:ext cx="3977640" cy="548640"/>
          </a:xfrm>
          <a:prstGeom prst="rect">
            <a:avLst/>
          </a:prstGeom>
          <a:solidFill>
            <a:srgbClr val="0D2D4A"/>
          </a:solidFill>
          <a:ln w="6350">
            <a:solidFill>
              <a:srgbClr val="1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52144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521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9E2"/>
                </a:solidFill>
              </a:rPr>
              <a:t>Données ARPA des 5 villes comparatives non vérifiées individuellement — valeurs de référence issues de la littérature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3977640" cy="548640"/>
          </a:xfrm>
          <a:prstGeom prst="rect">
            <a:avLst/>
          </a:prstGeom>
          <a:solidFill>
            <a:srgbClr val="0D2D4A"/>
          </a:solidFill>
          <a:ln w="6350">
            <a:solidFill>
              <a:srgbClr val="1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28800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288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9E2"/>
                </a:solidFill>
              </a:rPr>
              <a:t>Pas de PM2.5 dans le dataset → adaptation avec NO₂ pour les seuils OMS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05456"/>
            <a:ext cx="3977640" cy="548640"/>
          </a:xfrm>
          <a:prstGeom prst="rect">
            <a:avLst/>
          </a:prstGeom>
          <a:solidFill>
            <a:srgbClr val="0D2D4A"/>
          </a:solidFill>
          <a:ln w="6350">
            <a:solidFill>
              <a:srgbClr val="1A4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505456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054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9E2"/>
                </a:solidFill>
              </a:rPr>
              <a:t>Seulement 13 mois → tendance long terme non concluante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182112"/>
            <a:ext cx="3977640" cy="548640"/>
          </a:xfrm>
          <a:prstGeom prst="rect">
            <a:avLst/>
          </a:prstGeom>
          <a:solidFill>
            <a:srgbClr val="0D2D4A"/>
          </a:solidFill>
          <a:ln w="6350">
            <a:solidFill>
              <a:srgbClr val="1A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82112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8211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9E2"/>
                </a:solidFill>
              </a:rPr>
              <a:t>Dataset ERA5 couvre Milan uniquement — pas de validation croisée avec d'autres villes italiennes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858768"/>
            <a:ext cx="3977640" cy="548640"/>
          </a:xfrm>
          <a:prstGeom prst="rect">
            <a:avLst/>
          </a:prstGeom>
          <a:solidFill>
            <a:srgbClr val="0D2D4A"/>
          </a:solidFill>
          <a:ln w="6350">
            <a:solidFill>
              <a:srgbClr val="1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858768"/>
            <a:ext cx="54864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5876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9E2"/>
                </a:solidFill>
              </a:rPr>
              <a:t>RF meilleur modèle (R²=0.332). </a:t>
            </a:r>
            <a:r>
              <a:rPr lang="en-US" sz="1000" dirty="0" err="1">
                <a:solidFill>
                  <a:srgbClr val="BFD9E2"/>
                </a:solidFill>
              </a:rPr>
              <a:t>XGBoost</a:t>
            </a:r>
            <a:r>
              <a:rPr lang="en-US" sz="1000" dirty="0">
                <a:solidFill>
                  <a:srgbClr val="BFD9E2"/>
                </a:solidFill>
              </a:rPr>
              <a:t> </a:t>
            </a:r>
            <a:r>
              <a:rPr lang="en-US" sz="1000" dirty="0" smtClean="0">
                <a:solidFill>
                  <a:srgbClr val="BFD9E2"/>
                </a:solidFill>
              </a:rPr>
              <a:t>(R²=0.222) </a:t>
            </a:r>
            <a:r>
              <a:rPr lang="en-US" sz="1000" dirty="0">
                <a:solidFill>
                  <a:srgbClr val="BFD9E2"/>
                </a:solidFill>
              </a:rPr>
              <a:t>confirme RF. LR R²=−0.012 prouve la non-linéarité.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7863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FBF"/>
                </a:solidFill>
              </a:rPr>
              <a:t>Conclusions clés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152144"/>
            <a:ext cx="4023360" cy="548640"/>
          </a:xfrm>
          <a:prstGeom prst="rect">
            <a:avLst/>
          </a:prstGeom>
          <a:solidFill>
            <a:srgbClr val="0D2D4A"/>
          </a:solidFill>
          <a:ln w="7620">
            <a:solidFill>
              <a:srgbClr val="0D7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152144"/>
            <a:ext cx="54864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197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Trafic = source dominante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Corrélations CO/NOx/C6H6 + profil double-bosse + hiérarchie semaine&gt;WE&gt;fériés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828800"/>
            <a:ext cx="4023360" cy="548640"/>
          </a:xfrm>
          <a:prstGeom prst="rect">
            <a:avLst/>
          </a:prstGeom>
          <a:solidFill>
            <a:srgbClr val="0D2D4A"/>
          </a:solidFill>
          <a:ln w="7620">
            <a:solidFill>
              <a:srgbClr val="14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828800"/>
            <a:ext cx="54864" cy="548640"/>
          </a:xfrm>
          <a:prstGeom prst="rect">
            <a:avLst/>
          </a:prstGeom>
          <a:solidFill>
            <a:srgbClr val="14BFBF"/>
          </a:solidFill>
          <a:ln w="12700">
            <a:solidFill>
              <a:srgbClr val="14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874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Phénomène saisonnier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65192" y="21214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NO₂ hivernal 2× plus élevé qu'en été. Anticyclones et froid expliquent l'accumulation.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505456"/>
            <a:ext cx="4023360" cy="548640"/>
          </a:xfrm>
          <a:prstGeom prst="rect">
            <a:avLst/>
          </a:prstGeom>
          <a:solidFill>
            <a:srgbClr val="0D2D4A"/>
          </a:solidFill>
          <a:ln w="7620">
            <a:solidFill>
              <a:srgbClr val="D94F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505456"/>
            <a:ext cx="54864" cy="54864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551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87 jours &gt; seuil OMS/an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5192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Tous concentrés en hiver (nov–fév). 0 dépassement en été.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182112"/>
            <a:ext cx="4023360" cy="548640"/>
          </a:xfrm>
          <a:prstGeom prst="rect">
            <a:avLst/>
          </a:prstGeom>
          <a:solidFill>
            <a:srgbClr val="0D2D4A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182112"/>
            <a:ext cx="54864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227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exploitable à court terme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192" y="34747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RF R²=0.332 vs LR R²=−0.012 à 6h. </a:t>
            </a:r>
            <a:r>
              <a:rPr lang="en-US" sz="950" dirty="0" err="1">
                <a:solidFill>
                  <a:srgbClr val="7A9BAA"/>
                </a:solidFill>
              </a:rPr>
              <a:t>XGBoost</a:t>
            </a:r>
            <a:r>
              <a:rPr lang="en-US" sz="950" dirty="0">
                <a:solidFill>
                  <a:srgbClr val="7A9BAA"/>
                </a:solidFill>
              </a:rPr>
              <a:t> </a:t>
            </a:r>
            <a:r>
              <a:rPr lang="en-US" sz="950" dirty="0" smtClean="0">
                <a:solidFill>
                  <a:srgbClr val="7A9BAA"/>
                </a:solidFill>
              </a:rPr>
              <a:t>R²=0.222. </a:t>
            </a:r>
            <a:r>
              <a:rPr lang="en-US" sz="950" dirty="0">
                <a:solidFill>
                  <a:srgbClr val="7A9BAA"/>
                </a:solidFill>
              </a:rPr>
              <a:t>LR échoue — non-linéarité prouvée. RF retenu.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858768"/>
            <a:ext cx="4023360" cy="548640"/>
          </a:xfrm>
          <a:prstGeom prst="rect">
            <a:avLst/>
          </a:prstGeom>
          <a:solidFill>
            <a:srgbClr val="0D2D4A"/>
          </a:solidFill>
          <a:ln w="7620">
            <a:solidFill>
              <a:srgbClr val="32E0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858768"/>
            <a:ext cx="54864" cy="548640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3904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Alerte préventive fonctionnelle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65192" y="4151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AA"/>
                </a:solidFill>
              </a:rPr>
              <a:t>74% des pics détectés 3h à l'avance avec T &lt; 14.8°C et NOx &gt; 422 ppb.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Analyse Climatique &amp; Qualité de l'Air  ·  Projet 02 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2098</Words>
  <Application>Microsoft Office PowerPoint</Application>
  <PresentationFormat>Affichage à l'écran (16:9)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Tninkpad</cp:lastModifiedBy>
  <cp:revision>5</cp:revision>
  <dcterms:created xsi:type="dcterms:W3CDTF">2026-06-04T09:18:11Z</dcterms:created>
  <dcterms:modified xsi:type="dcterms:W3CDTF">2026-06-07T20:32:03Z</dcterms:modified>
</cp:coreProperties>
</file>